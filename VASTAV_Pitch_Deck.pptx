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527BA5EB-9F1F-9016-580D-971C2E9B1555}">
          <p14:sldIdLst>
            <p14:sldId id="256"/>
          </p14:sldIdLst>
        </p14:section>
        <p14:section name="Problem Statement" id="{BEAC90CE-2D44-1ED3-574C-1B00D91EB9E2}">
          <p14:sldIdLst>
            <p14:sldId id="257"/>
          </p14:sldIdLst>
        </p14:section>
        <p14:section name="Proposed Solution" id="{D0DCFD94-A0E1-E025-314D-A07F2B314CA7}">
          <p14:sldIdLst>
            <p14:sldId id="258"/>
          </p14:sldIdLst>
        </p14:section>
        <p14:section name="Technical Approach" id="{C1A94C3D-5493-3DB6-DFFB-B5932F37BCAD}">
          <p14:sldIdLst>
            <p14:sldId id="259"/>
          </p14:sldIdLst>
        </p14:section>
        <p14:section name="Prototype" id="{FEBC9033-4FD8-B601-6779-753BBC808B37}">
          <p14:sldIdLst>
            <p14:sldId id="260"/>
          </p14:sldIdLst>
        </p14:section>
        <p14:section name="Impact" id="{615C234D-583D-2A2F-6832-D9587DC425F8}">
          <p14:sldIdLst>
            <p14:sldId id="261"/>
          </p14:sldIdLst>
        </p14:section>
        <p14:section name="Business Model" id="{BCF45E65-9562-0CE3-BB20-746D563333D1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7FEAF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Severity</c:v>
                </c:pt>
                <c:pt idx="1">
                  <c:v>Safety risk</c:v>
                </c:pt>
                <c:pt idx="2">
                  <c:v>People affected</c:v>
                </c:pt>
                <c:pt idx="3">
                  <c:v>Duration</c:v>
                </c:pt>
                <c:pt idx="4">
                  <c:v>Recurrence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9D-4EB0-9CA5-28D4F30D1C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8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VASTAV connects citizens with the civic problems around them, and makes sure someone 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has seen a pothole or a dead streetlight. The gap is not awareness, it is a simple channel, a fair way to rank urgency, and visible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flow: report, score, route, track. The unique part is the transparent score and that it keeps working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Single-file installable PWA on the front; a small REST API behind it. Offline queue + auto-sync is what makes it OFFGRID-ready. The weights on the right are the exact scoring formula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screens from the working app. Left: the report flow. Right: the public dashboard, ranked by priority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here come straight from how the product works. Outcomes to measure in a pilot: time-to-resolve, share of reports resolved, duplicates avoided.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model, to be validated in a pilot: citizens never pay; municipalities and partners fund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035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VASTAV · Pitching PPT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88352" y="6035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Hackathon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035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VASTAV · Pitching PPT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88352" y="6035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Hackathon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Team [Team Name]  ·  [Member 1], [Member 2], [Member 3]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VASTAV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Connecting People with the Problems of Our Nation</a:t>
            </a: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CBF064-6635-CB15-AF89-AF56CD2AA927}"/>
              </a:ext>
            </a:extLst>
          </p:cNvPr>
          <p:cNvSpPr txBox="1"/>
          <p:nvPr/>
        </p:nvSpPr>
        <p:spPr>
          <a:xfrm>
            <a:off x="3583354" y="2129488"/>
            <a:ext cx="50252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Copperplate Gothic Bold" panose="020E0705020206020404" pitchFamily="34" charset="0"/>
              </a:rPr>
              <a:t>VASTAV</a:t>
            </a:r>
            <a:endParaRPr lang="en-IN" sz="8000" dirty="0">
              <a:latin typeface="Copperplate Gothic Bold" panose="020E07050202060204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7B116C-508A-2203-7CA8-FA0EF0139855}"/>
              </a:ext>
            </a:extLst>
          </p:cNvPr>
          <p:cNvSpPr txBox="1"/>
          <p:nvPr/>
        </p:nvSpPr>
        <p:spPr>
          <a:xfrm>
            <a:off x="4087445" y="3452927"/>
            <a:ext cx="4282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Report today track </a:t>
            </a:r>
            <a:r>
              <a:rPr lang="en-US" sz="2000" dirty="0">
                <a:latin typeface="Copperplate Gothic Bold" panose="020E0705020206020404" pitchFamily="34" charset="0"/>
              </a:rPr>
              <a:t>tomorrow</a:t>
            </a:r>
            <a:r>
              <a:rPr lang="en-US" sz="2000" dirty="0"/>
              <a:t> fix together</a:t>
            </a:r>
            <a:endParaRPr 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blem summary"/>
          <p:cNvSpPr txBox="1"/>
          <p:nvPr/>
        </p:nvSpPr>
        <p:spPr>
          <a:xfrm>
            <a:off x="685800" y="24688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Potholes, leaking pipes, dead streetlights, overflowing drains: reported through scattered, slow, opaque channels, with no way to see what is urgent or what happens next.</a:t>
            </a:r>
            <a:endParaRPr lang="en-US" sz="1800" dirty="0"/>
          </a:p>
        </p:txBody>
      </p:sp>
      <p:sp>
        <p:nvSpPr>
          <p:cNvPr id="4" name="Reason for Selection card"/>
          <p:cNvSpPr/>
          <p:nvPr/>
        </p:nvSpPr>
        <p:spPr>
          <a:xfrm>
            <a:off x="685800" y="3429000"/>
            <a:ext cx="5303520" cy="2194560"/>
          </a:xfrm>
          <a:prstGeom prst="roundRect">
            <a:avLst>
              <a:gd name="adj" fmla="val 5000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5" name="Reason for Selection badge"/>
          <p:cNvSpPr/>
          <p:nvPr/>
        </p:nvSpPr>
        <p:spPr>
          <a:xfrm>
            <a:off x="960120" y="361188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Reason for Sele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739896"/>
            <a:ext cx="246888" cy="2468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Reason for Selection</a:t>
            </a:r>
            <a:endParaRPr lang="en-US" sz="2000" dirty="0"/>
          </a:p>
        </p:txBody>
      </p:sp>
      <p:sp>
        <p:nvSpPr>
          <p:cNvPr id="8" name="Reason for Selection list"/>
          <p:cNvSpPr txBox="1"/>
          <p:nvPr/>
        </p:nvSpPr>
        <p:spPr>
          <a:xfrm>
            <a:off x="1005840" y="4343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Everyday issue, yet no simple way to report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priority: urgent risks queue with minor ones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Duplicates pile up, citizens get no updates</a:t>
            </a:r>
            <a:endParaRPr lang="en-US" sz="1400" dirty="0"/>
          </a:p>
        </p:txBody>
      </p:sp>
      <p:sp>
        <p:nvSpPr>
          <p:cNvPr id="9" name="Target Users card"/>
          <p:cNvSpPr/>
          <p:nvPr/>
        </p:nvSpPr>
        <p:spPr>
          <a:xfrm>
            <a:off x="6172200" y="3429000"/>
            <a:ext cx="5303520" cy="2194560"/>
          </a:xfrm>
          <a:prstGeom prst="roundRect">
            <a:avLst>
              <a:gd name="adj" fmla="val 5000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0" name="Target Users badge"/>
          <p:cNvSpPr/>
          <p:nvPr/>
        </p:nvSpPr>
        <p:spPr>
          <a:xfrm>
            <a:off x="6446520" y="361188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Target Us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3739896"/>
            <a:ext cx="246888" cy="2468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3232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Target Users</a:t>
            </a:r>
            <a:endParaRPr lang="en-US" sz="2000" dirty="0"/>
          </a:p>
        </p:txBody>
      </p:sp>
      <p:sp>
        <p:nvSpPr>
          <p:cNvPr id="13" name="Target Users list"/>
          <p:cNvSpPr txBox="1"/>
          <p:nvPr/>
        </p:nvSpPr>
        <p:spPr>
          <a:xfrm>
            <a:off x="6492240" y="4343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Citizens: report fast, track by Receipt 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Departments: receive routed, scored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Authorities: one city-wide priority view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9D987E-BC44-3CA5-C927-6A426A257B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12" t="3844" r="1986" b="7394"/>
          <a:stretch>
            <a:fillRect/>
          </a:stretch>
        </p:blipFill>
        <p:spPr>
          <a:xfrm>
            <a:off x="3121074" y="1348739"/>
            <a:ext cx="5736492" cy="114300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lution summary"/>
          <p:cNvSpPr txBox="1"/>
          <p:nvPr/>
        </p:nvSpPr>
        <p:spPr>
          <a:xfrm>
            <a:off x="685800" y="24688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VASTAV turns a 2-minute citizen report into a scored, routed, trackable work item for the right department, even when the network drops.</a:t>
            </a:r>
            <a:endParaRPr lang="en-US" sz="1800" dirty="0"/>
          </a:p>
        </p:txBody>
      </p:sp>
      <p:sp>
        <p:nvSpPr>
          <p:cNvPr id="4" name="GPS-tagged reports tile"/>
          <p:cNvSpPr/>
          <p:nvPr/>
        </p:nvSpPr>
        <p:spPr>
          <a:xfrm>
            <a:off x="685800" y="324612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5" name="GPS-tagged reports badge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GPS-tagged repor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557016"/>
            <a:ext cx="246888" cy="2468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GPS-tagged reports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37490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Detect location + Maps link in 3 steps</a:t>
            </a:r>
            <a:endParaRPr lang="en-US" sz="1400" dirty="0"/>
          </a:p>
        </p:txBody>
      </p:sp>
      <p:sp>
        <p:nvSpPr>
          <p:cNvPr id="9" name="Transparent priority tile"/>
          <p:cNvSpPr/>
          <p:nvPr/>
        </p:nvSpPr>
        <p:spPr>
          <a:xfrm>
            <a:off x="4343400" y="324612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0" name="Transparent priority badge"/>
          <p:cNvSpPr/>
          <p:nvPr/>
        </p:nvSpPr>
        <p:spPr>
          <a:xfrm>
            <a:off x="4526280" y="342900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Transparent prior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557016"/>
            <a:ext cx="246888" cy="2468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Transparent priority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212080" y="37490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Score 0–100 from 5 weighted factors</a:t>
            </a:r>
            <a:endParaRPr lang="en-US" sz="1400" dirty="0"/>
          </a:p>
        </p:txBody>
      </p:sp>
      <p:sp>
        <p:nvSpPr>
          <p:cNvPr id="14" name="Auto routing tile"/>
          <p:cNvSpPr/>
          <p:nvPr/>
        </p:nvSpPr>
        <p:spPr>
          <a:xfrm>
            <a:off x="8001000" y="324612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5" name="Auto routing badge"/>
          <p:cNvSpPr/>
          <p:nvPr/>
        </p:nvSpPr>
        <p:spPr>
          <a:xfrm>
            <a:off x="8183880" y="342900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Auto rou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3557016"/>
            <a:ext cx="246888" cy="24688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869680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Auto routing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869680" y="37490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Category sent to the right department</a:t>
            </a:r>
            <a:endParaRPr lang="en-US" sz="1400" dirty="0"/>
          </a:p>
        </p:txBody>
      </p:sp>
      <p:sp>
        <p:nvSpPr>
          <p:cNvPr id="19" name="Duplicate merging tile"/>
          <p:cNvSpPr/>
          <p:nvPr/>
        </p:nvSpPr>
        <p:spPr>
          <a:xfrm>
            <a:off x="685800" y="452628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20" name="Duplicate merging badge"/>
          <p:cNvSpPr/>
          <p:nvPr/>
        </p:nvSpPr>
        <p:spPr>
          <a:xfrm>
            <a:off x="868680" y="47091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Duplicate merg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837176"/>
            <a:ext cx="246888" cy="24688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54480" y="4690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Duplicate merging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554480" y="50292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Same issue within ~60 m is flagged</a:t>
            </a:r>
            <a:endParaRPr lang="en-US" sz="1400" dirty="0"/>
          </a:p>
        </p:txBody>
      </p:sp>
      <p:sp>
        <p:nvSpPr>
          <p:cNvPr id="24" name="Live tracking tile"/>
          <p:cNvSpPr/>
          <p:nvPr/>
        </p:nvSpPr>
        <p:spPr>
          <a:xfrm>
            <a:off x="4343400" y="452628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25" name="Live tracking badge"/>
          <p:cNvSpPr/>
          <p:nvPr/>
        </p:nvSpPr>
        <p:spPr>
          <a:xfrm>
            <a:off x="4526280" y="47091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Live track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837176"/>
            <a:ext cx="246888" cy="24688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4690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Live tracking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5212080" y="50292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Receipt ID + 5-stage status timeline</a:t>
            </a:r>
            <a:endParaRPr lang="en-US" sz="1400" dirty="0"/>
          </a:p>
        </p:txBody>
      </p:sp>
      <p:sp>
        <p:nvSpPr>
          <p:cNvPr id="29" name="Works offline tile"/>
          <p:cNvSpPr/>
          <p:nvPr/>
        </p:nvSpPr>
        <p:spPr>
          <a:xfrm>
            <a:off x="8001000" y="4526280"/>
            <a:ext cx="3474720" cy="1188720"/>
          </a:xfrm>
          <a:prstGeom prst="roundRect">
            <a:avLst>
              <a:gd name="adj" fmla="val 9231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30" name="Works offline badge"/>
          <p:cNvSpPr/>
          <p:nvPr/>
        </p:nvSpPr>
        <p:spPr>
          <a:xfrm>
            <a:off x="8183880" y="47091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5" descr="Works offli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1896" y="4837176"/>
            <a:ext cx="246888" cy="24688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869680" y="4690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Works offline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869680" y="50292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Saved on phone, auto-syncs when online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ontend label"/>
          <p:cNvSpPr/>
          <p:nvPr/>
        </p:nvSpPr>
        <p:spPr>
          <a:xfrm>
            <a:off x="685800" y="2514600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Frontend detail"/>
          <p:cNvSpPr txBox="1"/>
          <p:nvPr/>
        </p:nvSpPr>
        <p:spPr>
          <a:xfrm>
            <a:off x="2240280" y="25146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HTML · CSS · vanilla JS installable PWA (service worker)</a:t>
            </a:r>
            <a:endParaRPr lang="en-US" sz="1400" dirty="0"/>
          </a:p>
        </p:txBody>
      </p:sp>
      <p:sp>
        <p:nvSpPr>
          <p:cNvPr id="6" name="Offline label"/>
          <p:cNvSpPr/>
          <p:nvPr/>
        </p:nvSpPr>
        <p:spPr>
          <a:xfrm>
            <a:off x="685800" y="3136392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1363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Offline</a:t>
            </a:r>
            <a:endParaRPr lang="en-US" sz="1400" dirty="0"/>
          </a:p>
        </p:txBody>
      </p:sp>
      <p:sp>
        <p:nvSpPr>
          <p:cNvPr id="8" name="Offline detail"/>
          <p:cNvSpPr txBox="1"/>
          <p:nvPr/>
        </p:nvSpPr>
        <p:spPr>
          <a:xfrm>
            <a:off x="2240280" y="313639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Reports queue in localStorage, auto-sync when online</a:t>
            </a:r>
            <a:endParaRPr lang="en-US" sz="1400" dirty="0"/>
          </a:p>
        </p:txBody>
      </p:sp>
      <p:sp>
        <p:nvSpPr>
          <p:cNvPr id="9" name="Backend label"/>
          <p:cNvSpPr/>
          <p:nvPr/>
        </p:nvSpPr>
        <p:spPr>
          <a:xfrm>
            <a:off x="685800" y="3758184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7581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Backend</a:t>
            </a:r>
            <a:endParaRPr lang="en-US" sz="1400" dirty="0"/>
          </a:p>
        </p:txBody>
      </p:sp>
      <p:sp>
        <p:nvSpPr>
          <p:cNvPr id="11" name="Backend detail"/>
          <p:cNvSpPr txBox="1"/>
          <p:nvPr/>
        </p:nvSpPr>
        <p:spPr>
          <a:xfrm>
            <a:off x="2240280" y="37581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REST API; status updates need an official token</a:t>
            </a:r>
            <a:endParaRPr lang="en-US" sz="1400" dirty="0"/>
          </a:p>
        </p:txBody>
      </p:sp>
      <p:sp>
        <p:nvSpPr>
          <p:cNvPr id="12" name="Location label"/>
          <p:cNvSpPr/>
          <p:nvPr/>
        </p:nvSpPr>
        <p:spPr>
          <a:xfrm>
            <a:off x="685800" y="4379976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43799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Location</a:t>
            </a:r>
            <a:endParaRPr lang="en-US" sz="1400" dirty="0"/>
          </a:p>
        </p:txBody>
      </p:sp>
      <p:sp>
        <p:nvSpPr>
          <p:cNvPr id="14" name="Location detail"/>
          <p:cNvSpPr txBox="1"/>
          <p:nvPr/>
        </p:nvSpPr>
        <p:spPr>
          <a:xfrm>
            <a:off x="2240280" y="437997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Geolocation API + OpenStreetMap reverse geocoding</a:t>
            </a:r>
            <a:endParaRPr lang="en-US" sz="1400" dirty="0"/>
          </a:p>
        </p:txBody>
      </p:sp>
      <p:sp>
        <p:nvSpPr>
          <p:cNvPr id="15" name="Logic label"/>
          <p:cNvSpPr/>
          <p:nvPr/>
        </p:nvSpPr>
        <p:spPr>
          <a:xfrm>
            <a:off x="685800" y="5001768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50017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Logic</a:t>
            </a:r>
            <a:endParaRPr lang="en-US" sz="1400" dirty="0"/>
          </a:p>
        </p:txBody>
      </p:sp>
      <p:sp>
        <p:nvSpPr>
          <p:cNvPr id="17" name="Logic detail"/>
          <p:cNvSpPr txBox="1"/>
          <p:nvPr/>
        </p:nvSpPr>
        <p:spPr>
          <a:xfrm>
            <a:off x="2240280" y="50017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Keyword → department, weighted scorer, 60 m duplicate check</a:t>
            </a:r>
            <a:endParaRPr lang="en-US" sz="1400" dirty="0"/>
          </a:p>
        </p:txBody>
      </p:sp>
      <p:sp>
        <p:nvSpPr>
          <p:cNvPr id="18" name="Score weights card"/>
          <p:cNvSpPr/>
          <p:nvPr/>
        </p:nvSpPr>
        <p:spPr>
          <a:xfrm>
            <a:off x="7360920" y="2468880"/>
            <a:ext cx="4114800" cy="3246120"/>
          </a:xfrm>
          <a:prstGeom prst="roundRect">
            <a:avLst>
              <a:gd name="adj" fmla="val 3380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352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Priority score weights (%)</a:t>
            </a:r>
            <a:endParaRPr lang="en-US" sz="16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498080" y="3017520"/>
          <a:ext cx="38404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port form screen frame"/>
          <p:cNvSpPr/>
          <p:nvPr/>
        </p:nvSpPr>
        <p:spPr>
          <a:xfrm>
            <a:off x="704088" y="2395728"/>
            <a:ext cx="4901184" cy="3191256"/>
          </a:xfrm>
          <a:prstGeom prst="roundRect">
            <a:avLst>
              <a:gd name="adj" fmla="val 2865"/>
            </a:avLst>
          </a:prstGeom>
          <a:solidFill>
            <a:schemeClr val="bg1"/>
          </a:solidFill>
          <a:ln/>
        </p:spPr>
      </p:sp>
      <p:pic>
        <p:nvPicPr>
          <p:cNvPr id="4" name="Image 0" descr="Report form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68880"/>
            <a:ext cx="4754880" cy="3043123"/>
          </a:xfrm>
          <a:prstGeom prst="rect">
            <a:avLst/>
          </a:prstGeom>
        </p:spPr>
      </p:pic>
      <p:sp>
        <p:nvSpPr>
          <p:cNvPr id="5" name="Report form screen caption"/>
          <p:cNvSpPr txBox="1"/>
          <p:nvPr/>
        </p:nvSpPr>
        <p:spPr>
          <a:xfrm>
            <a:off x="777240" y="5650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Report in 3 steps: details, location, impact</a:t>
            </a:r>
            <a:endParaRPr lang="en-US" sz="1400" dirty="0"/>
          </a:p>
        </p:txBody>
      </p:sp>
      <p:sp>
        <p:nvSpPr>
          <p:cNvPr id="6" name="Priority dashboard screen frame"/>
          <p:cNvSpPr/>
          <p:nvPr/>
        </p:nvSpPr>
        <p:spPr>
          <a:xfrm>
            <a:off x="6281928" y="2395728"/>
            <a:ext cx="4901184" cy="3191256"/>
          </a:xfrm>
          <a:prstGeom prst="roundRect">
            <a:avLst>
              <a:gd name="adj" fmla="val 2865"/>
            </a:avLst>
          </a:prstGeom>
          <a:solidFill>
            <a:schemeClr val="bg1"/>
          </a:solidFill>
          <a:ln/>
        </p:spPr>
      </p:sp>
      <p:pic>
        <p:nvPicPr>
          <p:cNvPr id="7" name="Image 1" descr="Priority dashboard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468880"/>
            <a:ext cx="4754880" cy="3043123"/>
          </a:xfrm>
          <a:prstGeom prst="rect">
            <a:avLst/>
          </a:prstGeom>
        </p:spPr>
      </p:pic>
      <p:sp>
        <p:nvSpPr>
          <p:cNvPr id="8" name="Priority dashboard screen caption"/>
          <p:cNvSpPr txBox="1"/>
          <p:nvPr/>
        </p:nvSpPr>
        <p:spPr>
          <a:xfrm>
            <a:off x="6355080" y="5650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Dashboard: every report ranked by priority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 file a report stat"/>
          <p:cNvSpPr/>
          <p:nvPr/>
        </p:nvSpPr>
        <p:spPr>
          <a:xfrm>
            <a:off x="685800" y="2468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68680" y="2560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&lt; 2 min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to file a report</a:t>
            </a:r>
            <a:endParaRPr lang="en-US" sz="1400" dirty="0"/>
          </a:p>
        </p:txBody>
      </p:sp>
      <p:sp>
        <p:nvSpPr>
          <p:cNvPr id="6" name="transparent priority score stat"/>
          <p:cNvSpPr/>
          <p:nvPr/>
        </p:nvSpPr>
        <p:spPr>
          <a:xfrm>
            <a:off x="3429000" y="2468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2560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0–100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transparent priority score</a:t>
            </a:r>
            <a:endParaRPr lang="en-US" sz="1400" dirty="0"/>
          </a:p>
        </p:txBody>
      </p:sp>
      <p:sp>
        <p:nvSpPr>
          <p:cNvPr id="9" name="Submitted → Resolved stat"/>
          <p:cNvSpPr/>
          <p:nvPr/>
        </p:nvSpPr>
        <p:spPr>
          <a:xfrm>
            <a:off x="6172200" y="2468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2560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 stages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Submitted → Resolved</a:t>
            </a:r>
            <a:endParaRPr lang="en-US" sz="1400" dirty="0"/>
          </a:p>
        </p:txBody>
      </p:sp>
      <p:sp>
        <p:nvSpPr>
          <p:cNvPr id="12" name="duplicate-matching radius stat"/>
          <p:cNvSpPr/>
          <p:nvPr/>
        </p:nvSpPr>
        <p:spPr>
          <a:xfrm>
            <a:off x="8915400" y="2468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98280" y="2560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~60 m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909828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duplicate-matching radius</a:t>
            </a:r>
            <a:endParaRPr lang="en-US" sz="1400" dirty="0"/>
          </a:p>
        </p:txBody>
      </p:sp>
      <p:sp>
        <p:nvSpPr>
          <p:cNvPr id="15" name="Real-world impact card"/>
          <p:cNvSpPr/>
          <p:nvPr/>
        </p:nvSpPr>
        <p:spPr>
          <a:xfrm>
            <a:off x="685800" y="4114800"/>
            <a:ext cx="5303520" cy="1554480"/>
          </a:xfrm>
          <a:prstGeom prst="roundRect">
            <a:avLst>
              <a:gd name="adj" fmla="val 7059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4224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Real-world impact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4663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Safety-critical issues surface first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Citizens see progress, not silence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Fewer duplicates, less noise for officials</a:t>
            </a:r>
            <a:endParaRPr lang="en-US" sz="1400" dirty="0"/>
          </a:p>
        </p:txBody>
      </p:sp>
      <p:sp>
        <p:nvSpPr>
          <p:cNvPr id="18" name="Scalability &amp; outcomes card"/>
          <p:cNvSpPr/>
          <p:nvPr/>
        </p:nvSpPr>
        <p:spPr>
          <a:xfrm>
            <a:off x="6172200" y="4114800"/>
            <a:ext cx="5303520" cy="1554480"/>
          </a:xfrm>
          <a:prstGeom prst="roundRect">
            <a:avLst>
              <a:gd name="adj" fmla="val 7059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0" y="4224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Scalability &amp; outcomes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4663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Same engine scales ward → city → state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Tracks reports, resolved, people affected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New department = new category rule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del summary"/>
          <p:cNvSpPr txBox="1"/>
          <p:nvPr/>
        </p:nvSpPr>
        <p:spPr>
          <a:xfrm>
            <a:off x="685800" y="2468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BY THE CITIZENS FOR THE CITIZENS </a:t>
            </a:r>
            <a:endParaRPr lang="en-US" sz="1800" dirty="0"/>
          </a:p>
        </p:txBody>
      </p:sp>
      <p:sp>
        <p:nvSpPr>
          <p:cNvPr id="4" name="Target market card"/>
          <p:cNvSpPr/>
          <p:nvPr/>
        </p:nvSpPr>
        <p:spPr>
          <a:xfrm>
            <a:off x="685800" y="3108960"/>
            <a:ext cx="3474720" cy="2560320"/>
          </a:xfrm>
          <a:prstGeom prst="roundRect">
            <a:avLst>
              <a:gd name="adj" fmla="val 4286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5" name="Target market badge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Target mar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419856"/>
            <a:ext cx="246888" cy="2468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Target market</a:t>
            </a:r>
            <a:endParaRPr lang="en-US" sz="1800" dirty="0"/>
          </a:p>
        </p:txBody>
      </p:sp>
      <p:sp>
        <p:nvSpPr>
          <p:cNvPr id="8" name="Target market list"/>
          <p:cNvSpPr txBox="1"/>
          <p:nvPr/>
        </p:nvSpPr>
        <p:spPr>
          <a:xfrm>
            <a:off x="960120" y="40233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Municipal corporations &amp; zone offices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Smart-city missions, local bodies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RWAs, campuses, townships (pilots)</a:t>
            </a:r>
            <a:endParaRPr lang="en-US" sz="1400" dirty="0"/>
          </a:p>
        </p:txBody>
      </p:sp>
      <p:sp>
        <p:nvSpPr>
          <p:cNvPr id="9" name="Revenue streams card"/>
          <p:cNvSpPr/>
          <p:nvPr/>
        </p:nvSpPr>
        <p:spPr>
          <a:xfrm>
            <a:off x="4343400" y="3108960"/>
            <a:ext cx="3474720" cy="2560320"/>
          </a:xfrm>
          <a:prstGeom prst="roundRect">
            <a:avLst>
              <a:gd name="adj" fmla="val 4286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0" name="Revenue streams badge"/>
          <p:cNvSpPr/>
          <p:nvPr/>
        </p:nvSpPr>
        <p:spPr>
          <a:xfrm>
            <a:off x="4572000" y="329184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Revenue stream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3419856"/>
            <a:ext cx="246888" cy="2468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780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Revenue streams</a:t>
            </a:r>
            <a:endParaRPr lang="en-US" sz="1800" dirty="0"/>
          </a:p>
        </p:txBody>
      </p:sp>
      <p:sp>
        <p:nvSpPr>
          <p:cNvPr id="13" name="Revenue streams list"/>
          <p:cNvSpPr txBox="1"/>
          <p:nvPr/>
        </p:nvSpPr>
        <p:spPr>
          <a:xfrm>
            <a:off x="4617720" y="40233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SaaS subscription per ward or zone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Analytics &amp; reporting add-on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CSR / NGO-sponsored deployments</a:t>
            </a:r>
            <a:endParaRPr lang="en-US" sz="1400" dirty="0"/>
          </a:p>
        </p:txBody>
      </p:sp>
      <p:sp>
        <p:nvSpPr>
          <p:cNvPr id="14" name="Sustainability card"/>
          <p:cNvSpPr/>
          <p:nvPr/>
        </p:nvSpPr>
        <p:spPr>
          <a:xfrm>
            <a:off x="8001000" y="3108960"/>
            <a:ext cx="3474720" cy="2560320"/>
          </a:xfrm>
          <a:prstGeom prst="roundRect">
            <a:avLst>
              <a:gd name="adj" fmla="val 4286"/>
            </a:avLst>
          </a:prstGeom>
          <a:solidFill>
            <a:schemeClr val="tx1">
              <a:alpha val="42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5" name="Sustainability badge"/>
          <p:cNvSpPr/>
          <p:nvPr/>
        </p:nvSpPr>
        <p:spPr>
          <a:xfrm>
            <a:off x="8229600" y="329184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Sustainabil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3419856"/>
            <a:ext cx="246888" cy="24688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1540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Sustainability</a:t>
            </a:r>
            <a:endParaRPr lang="en-US" sz="1800" dirty="0"/>
          </a:p>
        </p:txBody>
      </p:sp>
      <p:sp>
        <p:nvSpPr>
          <p:cNvPr id="18" name="Sustainability list"/>
          <p:cNvSpPr txBox="1"/>
          <p:nvPr/>
        </p:nvSpPr>
        <p:spPr>
          <a:xfrm>
            <a:off x="8275320" y="40233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Free citizen app drives adoption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Low-cost PWA: no app-store dependency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Resolution data proves value at renewal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58474C-24F9-CA94-0C99-B5EECE551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9" y="1426307"/>
            <a:ext cx="7044333" cy="40053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149855-B149-6722-E391-B8D9EF2DDBD5}"/>
              </a:ext>
            </a:extLst>
          </p:cNvPr>
          <p:cNvSpPr txBox="1"/>
          <p:nvPr/>
        </p:nvSpPr>
        <p:spPr>
          <a:xfrm>
            <a:off x="8018585" y="1539631"/>
            <a:ext cx="3251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pperplate Gothic Bold" panose="020E0705020206020404" pitchFamily="34" charset="0"/>
              </a:rPr>
              <a:t>SO JUST LIKE RASTOGI SAID OUR WEBISTE PROVIDES REAL TIME TO TIME TRACKING </a:t>
            </a:r>
          </a:p>
          <a:p>
            <a:endParaRPr lang="en-US" sz="2400" dirty="0">
              <a:latin typeface="Copperplate Gothic Bold" panose="020E0705020206020404" pitchFamily="34" charset="0"/>
            </a:endParaRPr>
          </a:p>
          <a:p>
            <a:r>
              <a:rPr lang="en-US" sz="2400" dirty="0">
                <a:latin typeface="Copperplate Gothic Bold" panose="020E0705020206020404" pitchFamily="34" charset="0"/>
              </a:rPr>
              <a:t>UNLIKE MOST GOVT WEBISTES</a:t>
            </a:r>
            <a:endParaRPr lang="en-IN" sz="2400" dirty="0">
              <a:latin typeface="Copperplate Gothic Bold" panose="020E0705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280780"/>
      </p:ext>
    </p:extLst>
  </p:cSld>
  <p:clrMapOvr>
    <a:masterClrMapping/>
  </p:clrMapOvr>
</p:sld>
</file>

<file path=ppt/theme/theme1.xml><?xml version="1.0" encoding="utf-8"?>
<a:theme xmlns:a="http://schemas.openxmlformats.org/drawingml/2006/main" name="VASTAV Offgrid">
  <a:themeElements>
    <a:clrScheme name="VASTAV Offgrid">
      <a:dk1>
        <a:srgbClr val="0B2A44"/>
      </a:dk1>
      <a:lt1>
        <a:srgbClr val="FFFFFF"/>
      </a:lt1>
      <a:dk2>
        <a:srgbClr val="0F5A78"/>
      </a:dk2>
      <a:lt2>
        <a:srgbClr val="DFF7FA"/>
      </a:lt2>
      <a:accent1>
        <a:srgbClr val="7FEAF2"/>
      </a:accent1>
      <a:accent2>
        <a:srgbClr val="FFD166"/>
      </a:accent2>
      <a:accent3>
        <a:srgbClr val="E5484D"/>
      </a:accent3>
      <a:accent4>
        <a:srgbClr val="F08A24"/>
      </a:accent4>
      <a:accent5>
        <a:srgbClr val="2FB36B"/>
      </a:accent5>
      <a:accent6>
        <a:srgbClr val="1B3A6B"/>
      </a:accent6>
      <a:hlink>
        <a:srgbClr val="7FEAF2"/>
      </a:hlink>
      <a:folHlink>
        <a:srgbClr val="DFF7FA"/>
      </a:folHlink>
    </a:clrScheme>
    <a:fontScheme name="VASTAV Offgrid">
      <a:majorFont>
        <a:latin typeface="Ailero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ilero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612</Words>
  <Application>Microsoft Office PowerPoint</Application>
  <PresentationFormat>Widescreen</PresentationFormat>
  <Paragraphs>86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Copperplate Gothic Bold</vt:lpstr>
      <vt:lpstr>VASTAV Offgrid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VASTAV – Pitching Deck</dc:title>
  <dc:subject>PptxGenJS Presentation</dc:subject>
  <dc:creator>Team VASTAV</dc:creator>
  <cp:lastModifiedBy>Tuhinaav Das</cp:lastModifiedBy>
  <cp:revision>2</cp:revision>
  <dcterms:created xsi:type="dcterms:W3CDTF">2026-10-09T23:47:47Z</dcterms:created>
  <dcterms:modified xsi:type="dcterms:W3CDTF">2026-10-10T00:21:48Z</dcterms:modified>
</cp:coreProperties>
</file>